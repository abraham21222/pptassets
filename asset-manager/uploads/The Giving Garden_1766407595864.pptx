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6"/>
  </p:notesMasterIdLst>
  <p:sldIdLst>
    <p:sldId id="256" r:id="rId2"/>
    <p:sldId id="257" r:id="rId3"/>
    <p:sldId id="258" r:id="rId4"/>
    <p:sldId id="259" r:id="rId5"/>
    <p:sldId id="274" r:id="rId6"/>
    <p:sldId id="263" r:id="rId7"/>
    <p:sldId id="269" r:id="rId8"/>
    <p:sldId id="268" r:id="rId9"/>
    <p:sldId id="266" r:id="rId10"/>
    <p:sldId id="270" r:id="rId11"/>
    <p:sldId id="272" r:id="rId12"/>
    <p:sldId id="273" r:id="rId13"/>
    <p:sldId id="261" r:id="rId14"/>
    <p:sldId id="26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93" autoAdjust="0"/>
    <p:restoredTop sz="94660"/>
  </p:normalViewPr>
  <p:slideViewPr>
    <p:cSldViewPr snapToGrid="0">
      <p:cViewPr varScale="1">
        <p:scale>
          <a:sx n="127" d="100"/>
          <a:sy n="127" d="100"/>
        </p:scale>
        <p:origin x="21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83EAE1-A59F-46FF-934E-3D0B497E1B2A}" type="datetimeFigureOut">
              <a:rPr lang="en-US" smtClean="0"/>
              <a:t>12/21/25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4F41C0-5CB6-400E-B490-2917D0A87CB1}" type="slidenum">
              <a:rPr lang="en-US" smtClean="0"/>
              <a:t>‹#›</a:t>
            </a:fld>
            <a:endParaRPr lang="en-US"/>
          </a:p>
        </p:txBody>
      </p:sp>
    </p:spTree>
    <p:extLst>
      <p:ext uri="{BB962C8B-B14F-4D97-AF65-F5344CB8AC3E}">
        <p14:creationId xmlns:p14="http://schemas.microsoft.com/office/powerpoint/2010/main" val="779573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F4F41C0-5CB6-400E-B490-2917D0A87CB1}" type="slidenum">
              <a:rPr lang="en-US" smtClean="0"/>
              <a:t>2</a:t>
            </a:fld>
            <a:endParaRPr lang="en-US"/>
          </a:p>
        </p:txBody>
      </p:sp>
    </p:spTree>
    <p:extLst>
      <p:ext uri="{BB962C8B-B14F-4D97-AF65-F5344CB8AC3E}">
        <p14:creationId xmlns:p14="http://schemas.microsoft.com/office/powerpoint/2010/main" val="795373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F4F41C0-5CB6-400E-B490-2917D0A87CB1}" type="slidenum">
              <a:rPr lang="en-US" smtClean="0"/>
              <a:t>4</a:t>
            </a:fld>
            <a:endParaRPr lang="en-US"/>
          </a:p>
        </p:txBody>
      </p:sp>
    </p:spTree>
    <p:extLst>
      <p:ext uri="{BB962C8B-B14F-4D97-AF65-F5344CB8AC3E}">
        <p14:creationId xmlns:p14="http://schemas.microsoft.com/office/powerpoint/2010/main" val="3372107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F4F41C0-5CB6-400E-B490-2917D0A87CB1}" type="slidenum">
              <a:rPr lang="en-US" smtClean="0"/>
              <a:t>8</a:t>
            </a:fld>
            <a:endParaRPr lang="en-US"/>
          </a:p>
        </p:txBody>
      </p:sp>
    </p:spTree>
    <p:extLst>
      <p:ext uri="{BB962C8B-B14F-4D97-AF65-F5344CB8AC3E}">
        <p14:creationId xmlns:p14="http://schemas.microsoft.com/office/powerpoint/2010/main" val="2473102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9F16529-D3E0-4719-94B8-E56D6E7CB19A}" type="datetime1">
              <a:rPr lang="en-US" smtClean="0"/>
              <a:t>12/21/25</a:t>
            </a:fld>
            <a:endParaRPr lang="en-US" dirty="0"/>
          </a:p>
        </p:txBody>
      </p:sp>
      <p:sp>
        <p:nvSpPr>
          <p:cNvPr id="5" name="Footer Placeholder 4"/>
          <p:cNvSpPr>
            <a:spLocks noGrp="1"/>
          </p:cNvSpPr>
          <p:nvPr>
            <p:ph type="ftr" sz="quarter" idx="11"/>
          </p:nvPr>
        </p:nvSpPr>
        <p:spPr/>
        <p:txBody>
          <a:bodyPr/>
          <a:lstStyle/>
          <a:p>
            <a:r>
              <a:rPr lang="en-US" dirty="0"/>
              <a:t>The Giving Garden -  240 Bald Hill Road, Warwick RI, 02886</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25C2CB-46D7-46B1-B25C-2162CC8FEBD1}" type="datetime1">
              <a:rPr lang="en-US" smtClean="0"/>
              <a:t>12/21/25</a:t>
            </a:fld>
            <a:endParaRPr lang="en-US" dirty="0"/>
          </a:p>
        </p:txBody>
      </p:sp>
      <p:sp>
        <p:nvSpPr>
          <p:cNvPr id="5" name="Footer Placeholder 4"/>
          <p:cNvSpPr>
            <a:spLocks noGrp="1"/>
          </p:cNvSpPr>
          <p:nvPr>
            <p:ph type="ftr" sz="quarter" idx="11"/>
          </p:nvPr>
        </p:nvSpPr>
        <p:spPr/>
        <p:txBody>
          <a:bodyPr/>
          <a:lstStyle/>
          <a:p>
            <a:r>
              <a:rPr lang="en-US"/>
              <a:t>The Giving Garden -  240 Bald Hill Road, Warwick RI, 02886</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71161" y="5397500"/>
            <a:ext cx="1753541" cy="106464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E7DDC1-0096-43F0-9D73-031DBC69D1D8}" type="datetime1">
              <a:rPr lang="en-US" smtClean="0"/>
              <a:t>12/21/25</a:t>
            </a:fld>
            <a:endParaRPr lang="en-US" dirty="0"/>
          </a:p>
        </p:txBody>
      </p:sp>
      <p:sp>
        <p:nvSpPr>
          <p:cNvPr id="5" name="Footer Placeholder 4"/>
          <p:cNvSpPr>
            <a:spLocks noGrp="1"/>
          </p:cNvSpPr>
          <p:nvPr>
            <p:ph type="ftr" sz="quarter" idx="11"/>
          </p:nvPr>
        </p:nvSpPr>
        <p:spPr/>
        <p:txBody>
          <a:bodyPr/>
          <a:lstStyle/>
          <a:p>
            <a:r>
              <a:rPr lang="en-US"/>
              <a:t>The Giving Garden -  240 Bald Hill Road, Warwick RI, 02886</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476CCCF-7199-45E4-A48A-ED189EF775EB}" type="datetime1">
              <a:rPr lang="en-US" smtClean="0"/>
              <a:t>12/21/25</a:t>
            </a:fld>
            <a:endParaRPr lang="en-US" dirty="0"/>
          </a:p>
        </p:txBody>
      </p:sp>
      <p:sp>
        <p:nvSpPr>
          <p:cNvPr id="6" name="Footer Placeholder 5"/>
          <p:cNvSpPr>
            <a:spLocks noGrp="1"/>
          </p:cNvSpPr>
          <p:nvPr>
            <p:ph type="ftr" sz="quarter" idx="11"/>
          </p:nvPr>
        </p:nvSpPr>
        <p:spPr/>
        <p:txBody>
          <a:bodyPr/>
          <a:lstStyle/>
          <a:p>
            <a:r>
              <a:rPr lang="en-US"/>
              <a:t>The Giving Garden -  240 Bald Hill Road, Warwick RI, 02886</a:t>
            </a:r>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DEEA02E-1B03-4927-995C-8ACF353E3B9A}" type="datetime1">
              <a:rPr lang="en-US" smtClean="0"/>
              <a:t>12/21/25</a:t>
            </a:fld>
            <a:endParaRPr lang="en-US" dirty="0"/>
          </a:p>
        </p:txBody>
      </p:sp>
      <p:sp>
        <p:nvSpPr>
          <p:cNvPr id="8" name="Footer Placeholder 7"/>
          <p:cNvSpPr>
            <a:spLocks noGrp="1"/>
          </p:cNvSpPr>
          <p:nvPr>
            <p:ph type="ftr" sz="quarter" idx="11"/>
          </p:nvPr>
        </p:nvSpPr>
        <p:spPr/>
        <p:txBody>
          <a:bodyPr/>
          <a:lstStyle/>
          <a:p>
            <a:r>
              <a:rPr lang="en-US"/>
              <a:t>The Giving Garden -  240 Bald Hill Road, Warwick RI, 02886</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B4EB15E-FF70-46BC-8747-52D1845698F4}" type="datetime1">
              <a:rPr lang="en-US" smtClean="0"/>
              <a:t>12/21/25</a:t>
            </a:fld>
            <a:endParaRPr lang="en-US" dirty="0"/>
          </a:p>
        </p:txBody>
      </p:sp>
      <p:sp>
        <p:nvSpPr>
          <p:cNvPr id="4" name="Footer Placeholder 3"/>
          <p:cNvSpPr>
            <a:spLocks noGrp="1"/>
          </p:cNvSpPr>
          <p:nvPr>
            <p:ph type="ftr" sz="quarter" idx="11"/>
          </p:nvPr>
        </p:nvSpPr>
        <p:spPr/>
        <p:txBody>
          <a:bodyPr/>
          <a:lstStyle/>
          <a:p>
            <a:r>
              <a:rPr lang="en-US"/>
              <a:t>The Giving Garden -  240 Bald Hill Road, Warwick RI, 02886</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BF32EB-EED4-4C38-B27E-0EF444C8B012}" type="datetime1">
              <a:rPr lang="en-US" smtClean="0"/>
              <a:t>12/21/25</a:t>
            </a:fld>
            <a:endParaRPr lang="en-US" dirty="0"/>
          </a:p>
        </p:txBody>
      </p:sp>
      <p:sp>
        <p:nvSpPr>
          <p:cNvPr id="3" name="Footer Placeholder 2"/>
          <p:cNvSpPr>
            <a:spLocks noGrp="1"/>
          </p:cNvSpPr>
          <p:nvPr>
            <p:ph type="ftr" sz="quarter" idx="11"/>
          </p:nvPr>
        </p:nvSpPr>
        <p:spPr/>
        <p:txBody>
          <a:bodyPr/>
          <a:lstStyle/>
          <a:p>
            <a:r>
              <a:rPr lang="en-US"/>
              <a:t>The Giving Garden -  240 Bald Hill Road, Warwick RI, 02886</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F14BB1-873F-4108-9D1C-6358ED90FB2E}" type="datetime1">
              <a:rPr lang="en-US" smtClean="0"/>
              <a:t>12/21/25</a:t>
            </a:fld>
            <a:endParaRPr lang="en-US" dirty="0"/>
          </a:p>
        </p:txBody>
      </p:sp>
      <p:sp>
        <p:nvSpPr>
          <p:cNvPr id="6" name="Footer Placeholder 5"/>
          <p:cNvSpPr>
            <a:spLocks noGrp="1"/>
          </p:cNvSpPr>
          <p:nvPr>
            <p:ph type="ftr" sz="quarter" idx="11"/>
          </p:nvPr>
        </p:nvSpPr>
        <p:spPr/>
        <p:txBody>
          <a:bodyPr/>
          <a:lstStyle/>
          <a:p>
            <a:r>
              <a:rPr lang="en-US"/>
              <a:t>The Giving Garden -  240 Bald Hill Road, Warwick RI, 02886</a:t>
            </a:r>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F9C2E4-8444-433A-AC31-4DF7FA0B2BA7}" type="datetime1">
              <a:rPr lang="en-US" smtClean="0"/>
              <a:t>12/21/25</a:t>
            </a:fld>
            <a:endParaRPr lang="en-US" dirty="0"/>
          </a:p>
        </p:txBody>
      </p:sp>
      <p:sp>
        <p:nvSpPr>
          <p:cNvPr id="6" name="Footer Placeholder 5"/>
          <p:cNvSpPr>
            <a:spLocks noGrp="1"/>
          </p:cNvSpPr>
          <p:nvPr>
            <p:ph type="ftr" sz="quarter" idx="11"/>
          </p:nvPr>
        </p:nvSpPr>
        <p:spPr/>
        <p:txBody>
          <a:bodyPr/>
          <a:lstStyle/>
          <a:p>
            <a:r>
              <a:rPr lang="en-US"/>
              <a:t>The Giving Garden -  240 Bald Hill Road, Warwick RI, 02886</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497CB1-1628-4ACC-9608-3608AC76D347}" type="datetime1">
              <a:rPr lang="en-US" smtClean="0"/>
              <a:t>12/21/25</a:t>
            </a:fld>
            <a:endParaRPr lang="en-US" dirty="0"/>
          </a:p>
        </p:txBody>
      </p:sp>
      <p:sp>
        <p:nvSpPr>
          <p:cNvPr id="5" name="Footer Placeholder 4"/>
          <p:cNvSpPr>
            <a:spLocks noGrp="1"/>
          </p:cNvSpPr>
          <p:nvPr>
            <p:ph type="ftr" sz="quarter" idx="11"/>
          </p:nvPr>
        </p:nvSpPr>
        <p:spPr/>
        <p:txBody>
          <a:bodyPr/>
          <a:lstStyle/>
          <a:p>
            <a:r>
              <a:rPr lang="en-US"/>
              <a:t>The Giving Garden -  240 Bald Hill Road, Warwick RI, 02886</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F753FB-E6DB-4961-AAA5-BE46E674620D}" type="datetime1">
              <a:rPr lang="en-US" smtClean="0"/>
              <a:t>12/21/25</a:t>
            </a:fld>
            <a:endParaRPr lang="en-US" dirty="0"/>
          </a:p>
        </p:txBody>
      </p:sp>
      <p:sp>
        <p:nvSpPr>
          <p:cNvPr id="5" name="Footer Placeholder 4"/>
          <p:cNvSpPr>
            <a:spLocks noGrp="1"/>
          </p:cNvSpPr>
          <p:nvPr>
            <p:ph type="ftr" sz="quarter" idx="11"/>
          </p:nvPr>
        </p:nvSpPr>
        <p:spPr/>
        <p:txBody>
          <a:bodyPr/>
          <a:lstStyle/>
          <a:p>
            <a:r>
              <a:rPr lang="en-US"/>
              <a:t>The Giving Garden -  240 Bald Hill Road, Warwick RI, 02886</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B11B28-E8B6-4DE0-B9E8-BA467B42930C}" type="datetime1">
              <a:rPr lang="en-US" smtClean="0"/>
              <a:t>12/21/25</a:t>
            </a:fld>
            <a:endParaRPr lang="en-US" dirty="0"/>
          </a:p>
        </p:txBody>
      </p:sp>
      <p:sp>
        <p:nvSpPr>
          <p:cNvPr id="5" name="Footer Placeholder 4"/>
          <p:cNvSpPr>
            <a:spLocks noGrp="1"/>
          </p:cNvSpPr>
          <p:nvPr>
            <p:ph type="ftr" sz="quarter" idx="11"/>
          </p:nvPr>
        </p:nvSpPr>
        <p:spPr/>
        <p:txBody>
          <a:bodyPr/>
          <a:lstStyle/>
          <a:p>
            <a:r>
              <a:rPr lang="en-US"/>
              <a:t>The Giving Garden -  240 Bald Hill Road, Warwick RI, 02886</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9717CF-4573-497E-8D3F-48BB4E2ADC20}" type="datetime1">
              <a:rPr lang="en-US" smtClean="0"/>
              <a:t>12/21/25</a:t>
            </a:fld>
            <a:endParaRPr lang="en-US" dirty="0"/>
          </a:p>
        </p:txBody>
      </p:sp>
      <p:sp>
        <p:nvSpPr>
          <p:cNvPr id="5" name="Footer Placeholder 4"/>
          <p:cNvSpPr>
            <a:spLocks noGrp="1"/>
          </p:cNvSpPr>
          <p:nvPr>
            <p:ph type="ftr" sz="quarter" idx="11"/>
          </p:nvPr>
        </p:nvSpPr>
        <p:spPr/>
        <p:txBody>
          <a:bodyPr/>
          <a:lstStyle/>
          <a:p>
            <a:r>
              <a:rPr lang="en-US"/>
              <a:t>The Giving Garden -  240 Bald Hill Road, Warwick RI, 02886</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F5FA4A-2D5B-4A91-B9E7-D50D809A52D9}" type="datetime1">
              <a:rPr lang="en-US" smtClean="0"/>
              <a:t>12/21/25</a:t>
            </a:fld>
            <a:endParaRPr lang="en-US" dirty="0"/>
          </a:p>
        </p:txBody>
      </p:sp>
      <p:sp>
        <p:nvSpPr>
          <p:cNvPr id="5" name="Footer Placeholder 4"/>
          <p:cNvSpPr>
            <a:spLocks noGrp="1"/>
          </p:cNvSpPr>
          <p:nvPr>
            <p:ph type="ftr" sz="quarter" idx="11"/>
          </p:nvPr>
        </p:nvSpPr>
        <p:spPr/>
        <p:txBody>
          <a:bodyPr/>
          <a:lstStyle/>
          <a:p>
            <a:r>
              <a:rPr lang="en-US"/>
              <a:t>The Giving Garden -  240 Bald Hill Road, Warwick RI, 02886</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317F53-0D24-46C7-8411-57BBEDB1EEAC}" type="datetime1">
              <a:rPr lang="en-US" smtClean="0"/>
              <a:t>12/21/25</a:t>
            </a:fld>
            <a:endParaRPr lang="en-US" dirty="0"/>
          </a:p>
        </p:txBody>
      </p:sp>
      <p:sp>
        <p:nvSpPr>
          <p:cNvPr id="5" name="Footer Placeholder 4"/>
          <p:cNvSpPr>
            <a:spLocks noGrp="1"/>
          </p:cNvSpPr>
          <p:nvPr>
            <p:ph type="ftr" sz="quarter" idx="11"/>
          </p:nvPr>
        </p:nvSpPr>
        <p:spPr/>
        <p:txBody>
          <a:bodyPr/>
          <a:lstStyle/>
          <a:p>
            <a:r>
              <a:rPr lang="en-US"/>
              <a:t>The Giving Garden -  240 Bald Hill Road, Warwick RI, 02886</a:t>
            </a:r>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A306AA-734F-4003-88D8-34BCCD76458C}" type="datetime1">
              <a:rPr lang="en-US" smtClean="0"/>
              <a:t>12/21/25</a:t>
            </a:fld>
            <a:endParaRPr lang="en-US" dirty="0"/>
          </a:p>
        </p:txBody>
      </p:sp>
      <p:sp>
        <p:nvSpPr>
          <p:cNvPr id="5" name="Footer Placeholder 4"/>
          <p:cNvSpPr>
            <a:spLocks noGrp="1"/>
          </p:cNvSpPr>
          <p:nvPr>
            <p:ph type="ftr" sz="quarter" idx="11"/>
          </p:nvPr>
        </p:nvSpPr>
        <p:spPr/>
        <p:txBody>
          <a:bodyPr/>
          <a:lstStyle/>
          <a:p>
            <a:r>
              <a:rPr lang="en-US"/>
              <a:t>The Giving Garden -  240 Bald Hill Road, Warwick RI, 02886</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920A006-F6F4-458C-A8BA-FD868FCA4B1D}" type="datetime1">
              <a:rPr lang="en-US" smtClean="0"/>
              <a:t>12/21/25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The Giving Garden -  240 Bald Hill Road, Warwick RI, 02886</a:t>
            </a:r>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hf sldNum="0"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Solving hunger through community enablement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5979" y="1275008"/>
            <a:ext cx="4200028" cy="2550017"/>
          </a:xfrm>
          <a:prstGeom prst="rect">
            <a:avLst/>
          </a:prstGeom>
        </p:spPr>
      </p:pic>
    </p:spTree>
    <p:extLst>
      <p:ext uri="{BB962C8B-B14F-4D97-AF65-F5344CB8AC3E}">
        <p14:creationId xmlns:p14="http://schemas.microsoft.com/office/powerpoint/2010/main" val="3827381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Today’s Agenda</a:t>
            </a:r>
          </a:p>
        </p:txBody>
      </p:sp>
      <p:sp>
        <p:nvSpPr>
          <p:cNvPr id="5" name="Content Placeholder 4"/>
          <p:cNvSpPr>
            <a:spLocks noGrp="1"/>
          </p:cNvSpPr>
          <p:nvPr>
            <p:ph idx="1"/>
          </p:nvPr>
        </p:nvSpPr>
        <p:spPr/>
        <p:txBody>
          <a:bodyPr/>
          <a:lstStyle/>
          <a:p>
            <a:r>
              <a:rPr lang="en-US" dirty="0"/>
              <a:t>Our Mission</a:t>
            </a:r>
          </a:p>
          <a:p>
            <a:r>
              <a:rPr lang="en-US" dirty="0"/>
              <a:t>Our History</a:t>
            </a:r>
          </a:p>
          <a:p>
            <a:r>
              <a:rPr lang="en-US" dirty="0"/>
              <a:t>What our job is </a:t>
            </a:r>
          </a:p>
          <a:p>
            <a:r>
              <a:rPr lang="en-US" dirty="0"/>
              <a:t>How you can help</a:t>
            </a:r>
          </a:p>
          <a:p>
            <a:r>
              <a:rPr lang="en-US" dirty="0"/>
              <a:t>How you can benefit</a:t>
            </a:r>
          </a:p>
          <a:p>
            <a:r>
              <a:rPr lang="en-US" dirty="0"/>
              <a:t>How our community can benefit </a:t>
            </a:r>
          </a:p>
          <a:p>
            <a:endParaRPr lang="en-US" dirty="0"/>
          </a:p>
        </p:txBody>
      </p:sp>
      <p:sp>
        <p:nvSpPr>
          <p:cNvPr id="6" name="Footer Placeholder 5"/>
          <p:cNvSpPr>
            <a:spLocks noGrp="1"/>
          </p:cNvSpPr>
          <p:nvPr>
            <p:ph type="ftr" sz="quarter" idx="11"/>
          </p:nvPr>
        </p:nvSpPr>
        <p:spPr/>
        <p:txBody>
          <a:bodyPr/>
          <a:lstStyle/>
          <a:p>
            <a:r>
              <a:rPr lang="en-US"/>
              <a:t>The Giving Garden -  240 Bald Hill Road, Warwick RI, 02886</a:t>
            </a:r>
            <a:endParaRPr lang="en-US" dirty="0"/>
          </a:p>
        </p:txBody>
      </p:sp>
    </p:spTree>
    <p:extLst>
      <p:ext uri="{BB962C8B-B14F-4D97-AF65-F5344CB8AC3E}">
        <p14:creationId xmlns:p14="http://schemas.microsoft.com/office/powerpoint/2010/main" val="796775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Who are we?</a:t>
            </a:r>
            <a:br>
              <a:rPr lang="en-US" dirty="0"/>
            </a:br>
            <a:endParaRPr lang="en-US" dirty="0"/>
          </a:p>
        </p:txBody>
      </p:sp>
      <p:sp>
        <p:nvSpPr>
          <p:cNvPr id="3" name="Content Placeholder 2"/>
          <p:cNvSpPr>
            <a:spLocks noGrp="1"/>
          </p:cNvSpPr>
          <p:nvPr>
            <p:ph idx="1"/>
          </p:nvPr>
        </p:nvSpPr>
        <p:spPr/>
        <p:txBody>
          <a:bodyPr vert="horz" lIns="91440" tIns="45720" rIns="91440" bIns="45720" rtlCol="0" anchor="t">
            <a:normAutofit/>
          </a:bodyPr>
          <a:lstStyle/>
          <a:p>
            <a:r>
              <a:rPr lang="en-US" dirty="0"/>
              <a:t>Founded in 2016 by Moses Brown students Abraham Bloom and Sinjon Goldberg</a:t>
            </a:r>
          </a:p>
          <a:p>
            <a:r>
              <a:rPr lang="en-US" dirty="0"/>
              <a:t>Successfully ran a community garden operated by cognitively challenged labor at SquadLocker LLC.</a:t>
            </a:r>
          </a:p>
          <a:p>
            <a:r>
              <a:rPr lang="en-US" dirty="0"/>
              <a:t>Have volunteered time at Rhode Island Food Bank</a:t>
            </a:r>
          </a:p>
          <a:p>
            <a:r>
              <a:rPr lang="en-US" dirty="0"/>
              <a:t>Looking to make our volunteer work come full circle </a:t>
            </a:r>
          </a:p>
          <a:p>
            <a:endParaRPr lang="en-US" dirty="0"/>
          </a:p>
        </p:txBody>
      </p:sp>
      <p:sp>
        <p:nvSpPr>
          <p:cNvPr id="4" name="Footer Placeholder 3"/>
          <p:cNvSpPr>
            <a:spLocks noGrp="1"/>
          </p:cNvSpPr>
          <p:nvPr>
            <p:ph type="ftr" sz="quarter" idx="11"/>
          </p:nvPr>
        </p:nvSpPr>
        <p:spPr/>
        <p:txBody>
          <a:bodyPr/>
          <a:lstStyle/>
          <a:p>
            <a:r>
              <a:rPr lang="en-US"/>
              <a:t>The Giving Garden -  240 Bald Hill Road, Warwick RI, 02886</a:t>
            </a:r>
            <a:endParaRPr lang="en-US" dirty="0"/>
          </a:p>
        </p:txBody>
      </p:sp>
    </p:spTree>
    <p:extLst>
      <p:ext uri="{BB962C8B-B14F-4D97-AF65-F5344CB8AC3E}">
        <p14:creationId xmlns:p14="http://schemas.microsoft.com/office/powerpoint/2010/main" val="3355293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Our Mission</a:t>
            </a:r>
          </a:p>
        </p:txBody>
      </p:sp>
      <p:sp>
        <p:nvSpPr>
          <p:cNvPr id="3" name="Content Placeholder 2"/>
          <p:cNvSpPr>
            <a:spLocks noGrp="1"/>
          </p:cNvSpPr>
          <p:nvPr>
            <p:ph idx="1"/>
          </p:nvPr>
        </p:nvSpPr>
        <p:spPr/>
        <p:txBody>
          <a:bodyPr>
            <a:normAutofit lnSpcReduction="10000"/>
          </a:bodyPr>
          <a:lstStyle/>
          <a:p>
            <a:pPr>
              <a:lnSpc>
                <a:spcPct val="200000"/>
              </a:lnSpc>
            </a:pPr>
            <a:r>
              <a:rPr lang="en-US" dirty="0"/>
              <a:t>At The Giving Garden, our mission is to unlock the potential of willing and able labor and unused corporate green space while enhancing a sense of fulfillment for those who are cognitively challenged. While many would view our source of labor as incapable or unwilling, we believe engaging the cognitively challenged will allow them to feel self fulfilled and also potentially alleviate the burden on our public welfare system. </a:t>
            </a:r>
          </a:p>
          <a:p>
            <a:pPr marL="0" indent="0">
              <a:buNone/>
            </a:pPr>
            <a:br>
              <a:rPr lang="en-US" dirty="0"/>
            </a:br>
            <a:endParaRPr lang="en-US" dirty="0"/>
          </a:p>
        </p:txBody>
      </p:sp>
      <p:sp>
        <p:nvSpPr>
          <p:cNvPr id="4" name="Footer Placeholder 3"/>
          <p:cNvSpPr>
            <a:spLocks noGrp="1"/>
          </p:cNvSpPr>
          <p:nvPr>
            <p:ph type="ftr" sz="quarter" idx="11"/>
          </p:nvPr>
        </p:nvSpPr>
        <p:spPr/>
        <p:txBody>
          <a:bodyPr/>
          <a:lstStyle/>
          <a:p>
            <a:r>
              <a:rPr lang="en-US" dirty="0"/>
              <a:t>The Giving Garden -  240 Bald Hill Road, Warwick RI, 02886</a:t>
            </a:r>
          </a:p>
        </p:txBody>
      </p:sp>
    </p:spTree>
    <p:extLst>
      <p:ext uri="{BB962C8B-B14F-4D97-AF65-F5344CB8AC3E}">
        <p14:creationId xmlns:p14="http://schemas.microsoft.com/office/powerpoint/2010/main" val="3420746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Our Goal</a:t>
            </a:r>
          </a:p>
        </p:txBody>
      </p:sp>
      <p:sp>
        <p:nvSpPr>
          <p:cNvPr id="3" name="Content Placeholder 2"/>
          <p:cNvSpPr>
            <a:spLocks noGrp="1"/>
          </p:cNvSpPr>
          <p:nvPr>
            <p:ph idx="1"/>
          </p:nvPr>
        </p:nvSpPr>
        <p:spPr/>
        <p:txBody>
          <a:bodyPr/>
          <a:lstStyle/>
          <a:p>
            <a:r>
              <a:rPr lang="en-US" dirty="0"/>
              <a:t>Our goal is to give people with cognitive challenges a chance to give back through gardening. The cognitively challenged clients are able to utilize the undeveloped land provided by the partnership to grow produce with the goal of donating the crop yield to a community food bank.</a:t>
            </a:r>
          </a:p>
          <a:p>
            <a:endParaRPr lang="en-US" dirty="0"/>
          </a:p>
        </p:txBody>
      </p:sp>
      <p:sp>
        <p:nvSpPr>
          <p:cNvPr id="4" name="Footer Placeholder 3"/>
          <p:cNvSpPr>
            <a:spLocks noGrp="1"/>
          </p:cNvSpPr>
          <p:nvPr>
            <p:ph type="ftr" sz="quarter" idx="11"/>
          </p:nvPr>
        </p:nvSpPr>
        <p:spPr/>
        <p:txBody>
          <a:bodyPr/>
          <a:lstStyle/>
          <a:p>
            <a:r>
              <a:rPr lang="en-US"/>
              <a:t>The Giving Garden -  240 Bald Hill Road, Warwick RI, 02886</a:t>
            </a:r>
            <a:endParaRPr lang="en-US" dirty="0"/>
          </a:p>
        </p:txBody>
      </p:sp>
    </p:spTree>
    <p:extLst>
      <p:ext uri="{BB962C8B-B14F-4D97-AF65-F5344CB8AC3E}">
        <p14:creationId xmlns:p14="http://schemas.microsoft.com/office/powerpoint/2010/main" val="177655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our job? </a:t>
            </a:r>
          </a:p>
        </p:txBody>
      </p:sp>
      <p:sp>
        <p:nvSpPr>
          <p:cNvPr id="3" name="Content Placeholder 2"/>
          <p:cNvSpPr>
            <a:spLocks noGrp="1"/>
          </p:cNvSpPr>
          <p:nvPr>
            <p:ph idx="1"/>
          </p:nvPr>
        </p:nvSpPr>
        <p:spPr/>
        <p:txBody>
          <a:bodyPr/>
          <a:lstStyle/>
          <a:p>
            <a:r>
              <a:rPr lang="en-US" dirty="0"/>
              <a:t>Establish a partnership between Gateways to Change Incorporation and Local Businesses. </a:t>
            </a:r>
          </a:p>
          <a:p>
            <a:r>
              <a:rPr lang="en-US" dirty="0"/>
              <a:t>Supply materials to run a successful garden</a:t>
            </a:r>
          </a:p>
          <a:p>
            <a:r>
              <a:rPr lang="en-US" dirty="0"/>
              <a:t>Guide all parties through the process of harvesting successful crops</a:t>
            </a:r>
          </a:p>
          <a:p>
            <a:r>
              <a:rPr lang="en-US" dirty="0"/>
              <a:t>Donate the crop yield to a local food bank</a:t>
            </a:r>
          </a:p>
          <a:p>
            <a:endParaRPr lang="en-US" dirty="0"/>
          </a:p>
        </p:txBody>
      </p:sp>
      <p:sp>
        <p:nvSpPr>
          <p:cNvPr id="4" name="Footer Placeholder 3"/>
          <p:cNvSpPr>
            <a:spLocks noGrp="1"/>
          </p:cNvSpPr>
          <p:nvPr>
            <p:ph type="ftr" sz="quarter" idx="11"/>
          </p:nvPr>
        </p:nvSpPr>
        <p:spPr/>
        <p:txBody>
          <a:bodyPr/>
          <a:lstStyle/>
          <a:p>
            <a:r>
              <a:rPr lang="en-US" dirty="0"/>
              <a:t>The Giving Garden -  240 Bald Hill Road, Warwick RI, 02886</a:t>
            </a:r>
          </a:p>
        </p:txBody>
      </p:sp>
    </p:spTree>
    <p:extLst>
      <p:ext uri="{BB962C8B-B14F-4D97-AF65-F5344CB8AC3E}">
        <p14:creationId xmlns:p14="http://schemas.microsoft.com/office/powerpoint/2010/main" val="287338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Potential Economic Impact</a:t>
            </a:r>
          </a:p>
        </p:txBody>
      </p:sp>
      <p:sp>
        <p:nvSpPr>
          <p:cNvPr id="3" name="Content Placeholder 2"/>
          <p:cNvSpPr>
            <a:spLocks noGrp="1"/>
          </p:cNvSpPr>
          <p:nvPr>
            <p:ph idx="1"/>
          </p:nvPr>
        </p:nvSpPr>
        <p:spPr/>
        <p:txBody>
          <a:bodyPr/>
          <a:lstStyle/>
          <a:p>
            <a:pPr marL="0" indent="0">
              <a:buNone/>
            </a:pPr>
            <a:r>
              <a:rPr lang="en-US" dirty="0"/>
              <a:t>By donating fresh local produce to the Rhode Island Food Bank we can help begin to solve a major economic problem our state faces.</a:t>
            </a:r>
          </a:p>
          <a:p>
            <a:pPr lvl="1"/>
            <a:r>
              <a:rPr lang="en-US" dirty="0"/>
              <a:t>Healthy diets reduce morbidity and mortality and produce many kinds of economic benefits: lower medical care and institutional care costs, higher productivity, improved quality of life, and increased life expectancy. </a:t>
            </a:r>
          </a:p>
          <a:p>
            <a:pPr lvl="2"/>
            <a:endParaRPr lang="en-US" dirty="0"/>
          </a:p>
          <a:p>
            <a:pPr lvl="1"/>
            <a:r>
              <a:rPr lang="en-US" dirty="0"/>
              <a:t>A governmental study estimates that healthier diets in the United States would annually prevent $70.9 billion in medical costs, lost productivity, and the value of premature deaths associated with four health conditions: CHD, cancer, stroke, and diabetes. </a:t>
            </a:r>
          </a:p>
        </p:txBody>
      </p:sp>
      <p:sp>
        <p:nvSpPr>
          <p:cNvPr id="4" name="Footer Placeholder 3"/>
          <p:cNvSpPr>
            <a:spLocks noGrp="1"/>
          </p:cNvSpPr>
          <p:nvPr>
            <p:ph type="ftr" sz="quarter" idx="11"/>
          </p:nvPr>
        </p:nvSpPr>
        <p:spPr/>
        <p:txBody>
          <a:bodyPr/>
          <a:lstStyle/>
          <a:p>
            <a:r>
              <a:rPr lang="en-US"/>
              <a:t>The Giving Garden -  240 Bald Hill Road, Warwick RI, 02886</a:t>
            </a:r>
            <a:endParaRPr lang="en-US" dirty="0"/>
          </a:p>
        </p:txBody>
      </p:sp>
    </p:spTree>
    <p:extLst>
      <p:ext uri="{BB962C8B-B14F-4D97-AF65-F5344CB8AC3E}">
        <p14:creationId xmlns:p14="http://schemas.microsoft.com/office/powerpoint/2010/main" val="2159230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2287" y="197289"/>
            <a:ext cx="8596668" cy="1320800"/>
          </a:xfrm>
        </p:spPr>
        <p:txBody>
          <a:bodyPr/>
          <a:lstStyle/>
          <a:p>
            <a:r>
              <a:rPr lang="en-US" dirty="0"/>
              <a:t>A drastic need in Rhode Island</a:t>
            </a:r>
          </a:p>
        </p:txBody>
      </p:sp>
      <p:sp>
        <p:nvSpPr>
          <p:cNvPr id="3" name="Content Placeholder 2"/>
          <p:cNvSpPr>
            <a:spLocks noGrp="1"/>
          </p:cNvSpPr>
          <p:nvPr>
            <p:ph idx="1"/>
          </p:nvPr>
        </p:nvSpPr>
        <p:spPr>
          <a:xfrm>
            <a:off x="150325" y="1520006"/>
            <a:ext cx="9123850" cy="4522019"/>
          </a:xfrm>
        </p:spPr>
        <p:txBody>
          <a:bodyPr vert="horz" lIns="91440" tIns="45720" rIns="91440" bIns="45720" rtlCol="0" anchor="t">
            <a:normAutofit/>
          </a:bodyPr>
          <a:lstStyle/>
          <a:p>
            <a:r>
              <a:rPr lang="en-US" dirty="0">
                <a:solidFill>
                  <a:srgbClr val="000000"/>
                </a:solidFill>
                <a:latin typeface="Trebuchet MS" charset="0"/>
              </a:rPr>
              <a:t>“174,000 Rhode Islanders are enrolled in SNAP (Supplemental Nutrition Assistance Program), double the number from before the recession” </a:t>
            </a:r>
          </a:p>
          <a:p>
            <a:r>
              <a:rPr lang="en-US" dirty="0">
                <a:solidFill>
                  <a:srgbClr val="000000"/>
                </a:solidFill>
                <a:latin typeface="Trebuchet MS" charset="0"/>
              </a:rPr>
              <a:t>“One in eight Rhode Island households lacks adequate food” </a:t>
            </a:r>
          </a:p>
          <a:p>
            <a:r>
              <a:rPr lang="en-US" dirty="0">
                <a:solidFill>
                  <a:srgbClr val="000000"/>
                </a:solidFill>
                <a:latin typeface="Trebuchet MS" charset="0"/>
              </a:rPr>
              <a:t>“Before the recession, member agencies of the Rhode Island Community Food Bank served 33,000 people each month. Now, this same network serves 60,000 people each month”</a:t>
            </a:r>
          </a:p>
          <a:p>
            <a:endParaRPr lang="en-US" dirty="0">
              <a:solidFill>
                <a:srgbClr val="000000"/>
              </a:solidFill>
              <a:latin typeface="Trebuchet MS" charset="0"/>
            </a:endParaRPr>
          </a:p>
          <a:p>
            <a:endParaRPr lang="en-US" dirty="0"/>
          </a:p>
          <a:p>
            <a:endParaRPr lang="en-US" dirty="0"/>
          </a:p>
          <a:p>
            <a:endParaRPr lang="en-US" dirty="0"/>
          </a:p>
          <a:p>
            <a:pPr marL="0" indent="0">
              <a:buNone/>
            </a:pPr>
            <a:endParaRPr lang="en-US" dirty="0"/>
          </a:p>
          <a:p>
            <a:endParaRPr lang="en-US" dirty="0"/>
          </a:p>
        </p:txBody>
      </p:sp>
      <p:sp>
        <p:nvSpPr>
          <p:cNvPr id="4" name="Footer Placeholder 3"/>
          <p:cNvSpPr>
            <a:spLocks noGrp="1"/>
          </p:cNvSpPr>
          <p:nvPr>
            <p:ph type="ftr" sz="quarter" idx="11"/>
          </p:nvPr>
        </p:nvSpPr>
        <p:spPr/>
        <p:txBody>
          <a:bodyPr/>
          <a:lstStyle/>
          <a:p>
            <a:r>
              <a:rPr lang="en-US"/>
              <a:t>The Giving Garden -  240 Bald Hill Road, Warwick RI, 02886</a:t>
            </a:r>
            <a:endParaRPr lang="en-US" dirty="0"/>
          </a:p>
        </p:txBody>
      </p:sp>
      <p:pic>
        <p:nvPicPr>
          <p:cNvPr id="5" name="Picture 4"/>
          <p:cNvPicPr>
            <a:picLocks noChangeAspect="1"/>
          </p:cNvPicPr>
          <p:nvPr/>
        </p:nvPicPr>
        <p:blipFill>
          <a:blip r:embed="rId3"/>
          <a:stretch>
            <a:fillRect/>
          </a:stretch>
        </p:blipFill>
        <p:spPr>
          <a:xfrm>
            <a:off x="2400300" y="3529885"/>
            <a:ext cx="5118100" cy="2456578"/>
          </a:xfrm>
          <a:prstGeom prst="rect">
            <a:avLst/>
          </a:prstGeom>
        </p:spPr>
      </p:pic>
    </p:spTree>
    <p:extLst>
      <p:ext uri="{BB962C8B-B14F-4D97-AF65-F5344CB8AC3E}">
        <p14:creationId xmlns:p14="http://schemas.microsoft.com/office/powerpoint/2010/main" val="878070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to run a successful garden</a:t>
            </a:r>
          </a:p>
        </p:txBody>
      </p:sp>
      <p:sp>
        <p:nvSpPr>
          <p:cNvPr id="3" name="Content Placeholder 2"/>
          <p:cNvSpPr>
            <a:spLocks noGrp="1"/>
          </p:cNvSpPr>
          <p:nvPr>
            <p:ph idx="1"/>
          </p:nvPr>
        </p:nvSpPr>
        <p:spPr/>
        <p:txBody>
          <a:bodyPr/>
          <a:lstStyle/>
          <a:p>
            <a:r>
              <a:rPr lang="en-US" dirty="0"/>
              <a:t>1.	 Mark It Out</a:t>
            </a:r>
          </a:p>
          <a:p>
            <a:pPr lvl="1"/>
            <a:r>
              <a:rPr lang="en-US" dirty="0"/>
              <a:t>Make your new garden the best it can be. Give it a fun shape with flowing curves or use it to echo the lines of your house. Get it just right by laying out a hose to outline your bed. Once you have the perfect shape, mark the edges with a line of sand or flour.</a:t>
            </a:r>
          </a:p>
          <a:p>
            <a:r>
              <a:rPr lang="en-US" dirty="0"/>
              <a:t>2.	Get Rid Of Grass and Weeds</a:t>
            </a:r>
          </a:p>
          <a:p>
            <a:pPr lvl="1"/>
            <a:r>
              <a:rPr lang="en-US" dirty="0"/>
              <a:t>If you have grass growing in your new garden spot, dig it up with a spade or sod cutter. Or, if you have time to wait, mow that area as low as you can, then cover it with a several-sheet-thick layer of newspaper and several inches of soil or compost. Wait a couple of months for the grass to die.	</a:t>
            </a:r>
          </a:p>
          <a:p>
            <a:pPr lvl="1"/>
            <a:endParaRPr lang="en-US" dirty="0"/>
          </a:p>
        </p:txBody>
      </p:sp>
      <p:sp>
        <p:nvSpPr>
          <p:cNvPr id="4" name="Footer Placeholder 3"/>
          <p:cNvSpPr>
            <a:spLocks noGrp="1"/>
          </p:cNvSpPr>
          <p:nvPr>
            <p:ph type="ftr" sz="quarter" idx="11"/>
          </p:nvPr>
        </p:nvSpPr>
        <p:spPr/>
        <p:txBody>
          <a:bodyPr/>
          <a:lstStyle/>
          <a:p>
            <a:r>
              <a:rPr lang="en-US"/>
              <a:t>The Giving Garden -  240 Bald Hill Road, Warwick RI, 02886</a:t>
            </a:r>
            <a:endParaRPr lang="en-US" dirty="0"/>
          </a:p>
        </p:txBody>
      </p:sp>
    </p:spTree>
    <p:extLst>
      <p:ext uri="{BB962C8B-B14F-4D97-AF65-F5344CB8AC3E}">
        <p14:creationId xmlns:p14="http://schemas.microsoft.com/office/powerpoint/2010/main" val="4134177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to run a successful garden</a:t>
            </a:r>
          </a:p>
        </p:txBody>
      </p:sp>
      <p:sp>
        <p:nvSpPr>
          <p:cNvPr id="3" name="Content Placeholder 2"/>
          <p:cNvSpPr>
            <a:spLocks noGrp="1"/>
          </p:cNvSpPr>
          <p:nvPr>
            <p:ph idx="1"/>
          </p:nvPr>
        </p:nvSpPr>
        <p:spPr/>
        <p:txBody>
          <a:bodyPr/>
          <a:lstStyle/>
          <a:p>
            <a:r>
              <a:rPr lang="en-US" dirty="0"/>
              <a:t>3.	Dig It Up!</a:t>
            </a:r>
          </a:p>
          <a:p>
            <a:pPr lvl="1"/>
            <a:r>
              <a:rPr lang="en-US" dirty="0"/>
              <a:t>Now comes the digging. Dig up or till your new garden, removing any rocks, roots, or other debris. If you have poor soil, now's also a great time to incorporate organic matter, such as compost. Just dig it in while you work the ground.</a:t>
            </a:r>
          </a:p>
          <a:p>
            <a:r>
              <a:rPr lang="en-US" dirty="0"/>
              <a:t>4.	Site Your Plants </a:t>
            </a:r>
          </a:p>
          <a:p>
            <a:pPr lvl="1"/>
            <a:r>
              <a:rPr lang="en-US" dirty="0"/>
              <a:t>Though it takes a little extra time, placing all your plants before you put them in the ground can make a world of difference. This allows you to get the spacing just right and make your plants really will look good next to each other.</a:t>
            </a:r>
          </a:p>
          <a:p>
            <a:pPr marL="457200" lvl="1" indent="0">
              <a:buNone/>
            </a:pPr>
            <a:endParaRPr lang="en-US" dirty="0"/>
          </a:p>
          <a:p>
            <a:endParaRPr lang="en-US" dirty="0"/>
          </a:p>
        </p:txBody>
      </p:sp>
      <p:sp>
        <p:nvSpPr>
          <p:cNvPr id="4" name="Footer Placeholder 3"/>
          <p:cNvSpPr>
            <a:spLocks noGrp="1"/>
          </p:cNvSpPr>
          <p:nvPr>
            <p:ph type="ftr" sz="quarter" idx="11"/>
          </p:nvPr>
        </p:nvSpPr>
        <p:spPr/>
        <p:txBody>
          <a:bodyPr/>
          <a:lstStyle/>
          <a:p>
            <a:r>
              <a:rPr lang="en-US"/>
              <a:t>The Giving Garden -  240 Bald Hill Road, Warwick RI, 02886</a:t>
            </a:r>
            <a:endParaRPr lang="en-US" dirty="0"/>
          </a:p>
        </p:txBody>
      </p:sp>
    </p:spTree>
    <p:extLst>
      <p:ext uri="{BB962C8B-B14F-4D97-AF65-F5344CB8AC3E}">
        <p14:creationId xmlns:p14="http://schemas.microsoft.com/office/powerpoint/2010/main" val="4133388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to run a successful garden</a:t>
            </a:r>
          </a:p>
        </p:txBody>
      </p:sp>
      <p:sp>
        <p:nvSpPr>
          <p:cNvPr id="3" name="Content Placeholder 2"/>
          <p:cNvSpPr>
            <a:spLocks noGrp="1"/>
          </p:cNvSpPr>
          <p:nvPr>
            <p:ph idx="1"/>
          </p:nvPr>
        </p:nvSpPr>
        <p:spPr/>
        <p:txBody>
          <a:bodyPr/>
          <a:lstStyle/>
          <a:p>
            <a:r>
              <a:rPr lang="en-US" dirty="0"/>
              <a:t>5.	Get Planting!</a:t>
            </a:r>
          </a:p>
          <a:p>
            <a:pPr lvl="1"/>
            <a:r>
              <a:rPr lang="en-US" dirty="0"/>
              <a:t>When you know all of your plants are in exactly the right spots, plant them in the ground. It's helpful to loosen or tease the plants' roots before you put them in the ground, especially if they were </a:t>
            </a:r>
            <a:r>
              <a:rPr lang="en-US" dirty="0" err="1"/>
              <a:t>rootbound</a:t>
            </a:r>
            <a:r>
              <a:rPr lang="en-US" dirty="0"/>
              <a:t>.</a:t>
            </a:r>
          </a:p>
          <a:p>
            <a:r>
              <a:rPr lang="en-US" dirty="0"/>
              <a:t>6.	Spread Mulch</a:t>
            </a:r>
          </a:p>
          <a:p>
            <a:pPr lvl="1"/>
            <a:r>
              <a:rPr lang="en-US" dirty="0"/>
              <a:t>Other than amending the soil, the best thing you can do to keep your new garden healthy and low-maintenance is to spread mulch. A 2-inch-deep layer of shredded wood or other material will do wonders for stopping weeds and helping your soil conserve moisture during times of drought.</a:t>
            </a:r>
          </a:p>
        </p:txBody>
      </p:sp>
      <p:sp>
        <p:nvSpPr>
          <p:cNvPr id="4" name="Footer Placeholder 3"/>
          <p:cNvSpPr>
            <a:spLocks noGrp="1"/>
          </p:cNvSpPr>
          <p:nvPr>
            <p:ph type="ftr" sz="quarter" idx="11"/>
          </p:nvPr>
        </p:nvSpPr>
        <p:spPr/>
        <p:txBody>
          <a:bodyPr/>
          <a:lstStyle/>
          <a:p>
            <a:r>
              <a:rPr lang="en-US"/>
              <a:t>The Giving Garden -  240 Bald Hill Road, Warwick RI, 02886</a:t>
            </a:r>
            <a:endParaRPr lang="en-US" dirty="0"/>
          </a:p>
        </p:txBody>
      </p:sp>
    </p:spTree>
    <p:extLst>
      <p:ext uri="{BB962C8B-B14F-4D97-AF65-F5344CB8AC3E}">
        <p14:creationId xmlns:p14="http://schemas.microsoft.com/office/powerpoint/2010/main" val="1416749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to run a successful garden</a:t>
            </a:r>
          </a:p>
        </p:txBody>
      </p:sp>
      <p:sp>
        <p:nvSpPr>
          <p:cNvPr id="3" name="Content Placeholder 2"/>
          <p:cNvSpPr>
            <a:spLocks noGrp="1"/>
          </p:cNvSpPr>
          <p:nvPr>
            <p:ph idx="1"/>
          </p:nvPr>
        </p:nvSpPr>
        <p:spPr/>
        <p:txBody>
          <a:bodyPr/>
          <a:lstStyle/>
          <a:p>
            <a:r>
              <a:rPr lang="en-US" dirty="0"/>
              <a:t>7.	Water It In</a:t>
            </a:r>
          </a:p>
          <a:p>
            <a:pPr lvl="1"/>
            <a:r>
              <a:rPr lang="en-US" dirty="0"/>
              <a:t>Other than amending the soil, the best thing you can do to keep your new garden healthy and low-maintenance is to spread mulch. A 2-inch-deep layer of shredded wood or other material will do wonders for stopping weeds and helping your soil conserve moisture during times of drought.</a:t>
            </a:r>
          </a:p>
        </p:txBody>
      </p:sp>
      <p:sp>
        <p:nvSpPr>
          <p:cNvPr id="4" name="Footer Placeholder 3"/>
          <p:cNvSpPr>
            <a:spLocks noGrp="1"/>
          </p:cNvSpPr>
          <p:nvPr>
            <p:ph type="ftr" sz="quarter" idx="11"/>
          </p:nvPr>
        </p:nvSpPr>
        <p:spPr/>
        <p:txBody>
          <a:bodyPr/>
          <a:lstStyle/>
          <a:p>
            <a:r>
              <a:rPr lang="en-US"/>
              <a:t>The Giving Garden -  240 Bald Hill Road, Warwick RI, 02886</a:t>
            </a:r>
            <a:endParaRPr lang="en-US" dirty="0"/>
          </a:p>
        </p:txBody>
      </p:sp>
    </p:spTree>
    <p:extLst>
      <p:ext uri="{BB962C8B-B14F-4D97-AF65-F5344CB8AC3E}">
        <p14:creationId xmlns:p14="http://schemas.microsoft.com/office/powerpoint/2010/main" val="2971112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can you help?</a:t>
            </a:r>
          </a:p>
        </p:txBody>
      </p:sp>
      <p:sp>
        <p:nvSpPr>
          <p:cNvPr id="3" name="Content Placeholder 2"/>
          <p:cNvSpPr>
            <a:spLocks noGrp="1"/>
          </p:cNvSpPr>
          <p:nvPr>
            <p:ph idx="1"/>
          </p:nvPr>
        </p:nvSpPr>
        <p:spPr>
          <a:xfrm>
            <a:off x="574303" y="1812859"/>
            <a:ext cx="8596668" cy="3880773"/>
          </a:xfrm>
        </p:spPr>
        <p:txBody>
          <a:bodyPr>
            <a:normAutofit fontScale="92500" lnSpcReduction="10000"/>
          </a:bodyPr>
          <a:lstStyle/>
          <a:p>
            <a:r>
              <a:rPr lang="en-US" sz="1900" dirty="0"/>
              <a:t>Provide Land </a:t>
            </a:r>
          </a:p>
          <a:p>
            <a:pPr lvl="1"/>
            <a:r>
              <a:rPr lang="en-US" dirty="0"/>
              <a:t>By offering up unused green space to The Giving Garden, we will organize the creation of a garden that will be worked on by clients from Gateways to Change Incorporation.</a:t>
            </a:r>
          </a:p>
          <a:p>
            <a:r>
              <a:rPr lang="en-US" sz="1900" dirty="0"/>
              <a:t>Sponsor a farmer </a:t>
            </a:r>
          </a:p>
          <a:p>
            <a:pPr lvl="1"/>
            <a:r>
              <a:rPr lang="en-US" dirty="0"/>
              <a:t> For $25 you can sponsor a farmer and equip him/her with the necessary tools to properly cultivate the available land.</a:t>
            </a:r>
          </a:p>
          <a:p>
            <a:r>
              <a:rPr lang="en-US" sz="1900" dirty="0"/>
              <a:t>Monetary donation - $20       $50      $100        $500           other:</a:t>
            </a:r>
          </a:p>
          <a:p>
            <a:pPr lvl="1"/>
            <a:r>
              <a:rPr lang="en-US" dirty="0"/>
              <a:t>Your donation will be used for a variety of things, including land, warehouse space, tools, plants, overhead legal fees to help the company stay afloat.</a:t>
            </a:r>
          </a:p>
          <a:p>
            <a:r>
              <a:rPr lang="en-US" sz="1900" dirty="0"/>
              <a:t>Sponsor a shovel </a:t>
            </a:r>
          </a:p>
          <a:p>
            <a:pPr lvl="1"/>
            <a:r>
              <a:rPr lang="en-US" dirty="0"/>
              <a:t>For $10 your donation will be used to help purchase a shovel to make the cultivation possible.</a:t>
            </a:r>
          </a:p>
        </p:txBody>
      </p:sp>
      <p:sp>
        <p:nvSpPr>
          <p:cNvPr id="4" name="Footer Placeholder 3"/>
          <p:cNvSpPr>
            <a:spLocks noGrp="1"/>
          </p:cNvSpPr>
          <p:nvPr>
            <p:ph type="ftr" sz="quarter" idx="11"/>
          </p:nvPr>
        </p:nvSpPr>
        <p:spPr/>
        <p:txBody>
          <a:bodyPr/>
          <a:lstStyle/>
          <a:p>
            <a:r>
              <a:rPr lang="en-US"/>
              <a:t>The Giving Garden -  240 Bald Hill Road, Warwick RI, 02886</a:t>
            </a:r>
            <a:endParaRPr lang="en-US" dirty="0"/>
          </a:p>
        </p:txBody>
      </p:sp>
    </p:spTree>
    <p:extLst>
      <p:ext uri="{BB962C8B-B14F-4D97-AF65-F5344CB8AC3E}">
        <p14:creationId xmlns:p14="http://schemas.microsoft.com/office/powerpoint/2010/main" val="4219637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We Sincerely Appreciate Your Time</a:t>
            </a:r>
            <a:br>
              <a:rPr lang="en-US" dirty="0"/>
            </a:br>
            <a:endParaRPr lang="en-US" dirty="0"/>
          </a:p>
        </p:txBody>
      </p:sp>
      <p:sp>
        <p:nvSpPr>
          <p:cNvPr id="3" name="Content Placeholder 2"/>
          <p:cNvSpPr>
            <a:spLocks noGrp="1"/>
          </p:cNvSpPr>
          <p:nvPr>
            <p:ph idx="1"/>
          </p:nvPr>
        </p:nvSpPr>
        <p:spPr>
          <a:xfrm>
            <a:off x="677863" y="3649000"/>
            <a:ext cx="8596312" cy="2393025"/>
          </a:xfrm>
        </p:spPr>
        <p:txBody>
          <a:bodyPr vert="horz" lIns="91440" tIns="45720" rIns="91440" bIns="45720" rtlCol="0" anchor="t">
            <a:normAutofit/>
          </a:bodyPr>
          <a:lstStyle/>
          <a:p>
            <a:r>
              <a:rPr lang="en-US" sz="2800" dirty="0">
                <a:solidFill>
                  <a:srgbClr val="695D46"/>
                </a:solidFill>
                <a:latin typeface="Trebuchet MS" charset="0"/>
              </a:rPr>
              <a:t>“</a:t>
            </a:r>
            <a:r>
              <a:rPr lang="en-US" sz="2800" dirty="0">
                <a:solidFill>
                  <a:srgbClr val="3A2F26"/>
                </a:solidFill>
                <a:latin typeface="Georgia" charset="0"/>
              </a:rPr>
              <a:t>No act of kindness, no matter how small, is ever wasted” - Aesop</a:t>
            </a:r>
          </a:p>
        </p:txBody>
      </p:sp>
      <p:sp>
        <p:nvSpPr>
          <p:cNvPr id="4" name="Footer Placeholder 3"/>
          <p:cNvSpPr>
            <a:spLocks noGrp="1"/>
          </p:cNvSpPr>
          <p:nvPr>
            <p:ph type="ftr" sz="quarter" idx="11"/>
          </p:nvPr>
        </p:nvSpPr>
        <p:spPr/>
        <p:txBody>
          <a:bodyPr/>
          <a:lstStyle/>
          <a:p>
            <a:r>
              <a:rPr lang="en-US"/>
              <a:t>The Giving Garden -  240 Bald Hill Road, Warwick RI, 02886</a:t>
            </a:r>
            <a:endParaRPr lang="en-US" dirty="0"/>
          </a:p>
        </p:txBody>
      </p:sp>
    </p:spTree>
    <p:extLst>
      <p:ext uri="{BB962C8B-B14F-4D97-AF65-F5344CB8AC3E}">
        <p14:creationId xmlns:p14="http://schemas.microsoft.com/office/powerpoint/2010/main" val="384943911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1709</TotalTime>
  <Words>1198</Words>
  <Application>Microsoft Macintosh PowerPoint</Application>
  <PresentationFormat>Widescreen</PresentationFormat>
  <Paragraphs>81</Paragraphs>
  <Slides>14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Georgia</vt:lpstr>
      <vt:lpstr>Trebuchet MS</vt:lpstr>
      <vt:lpstr>Wingdings 3</vt:lpstr>
      <vt:lpstr>Facet</vt:lpstr>
      <vt:lpstr>PowerPoint Presentation</vt:lpstr>
      <vt:lpstr>Today’s Agenda</vt:lpstr>
      <vt:lpstr>Who are we? </vt:lpstr>
      <vt:lpstr>Our Mission</vt:lpstr>
      <vt:lpstr>Our Goal</vt:lpstr>
      <vt:lpstr>What is our job? </vt:lpstr>
      <vt:lpstr>Potential Economic Impact</vt:lpstr>
      <vt:lpstr>A drastic need in Rhode Island</vt:lpstr>
      <vt:lpstr>Steps to run a successful garden</vt:lpstr>
      <vt:lpstr>Steps to run a successful garden</vt:lpstr>
      <vt:lpstr>Steps to run a successful garden</vt:lpstr>
      <vt:lpstr>Steps to run a successful garden</vt:lpstr>
      <vt:lpstr>How can you help?</vt:lpstr>
      <vt:lpstr>We Sincerely Appreciate Your Time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Giving Garden</dc:title>
  <dc:creator>Sinjon Goldberg</dc:creator>
  <cp:lastModifiedBy>abe bloom</cp:lastModifiedBy>
  <cp:revision>19</cp:revision>
  <dcterms:created xsi:type="dcterms:W3CDTF">2016-04-09T19:38:19Z</dcterms:created>
  <dcterms:modified xsi:type="dcterms:W3CDTF">2025-12-22T03:16:12Z</dcterms:modified>
</cp:coreProperties>
</file>